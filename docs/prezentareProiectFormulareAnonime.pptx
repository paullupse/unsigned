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22"/>
  </p:notesMasterIdLst>
  <p:handoutMasterIdLst>
    <p:handoutMasterId r:id="rId23"/>
  </p:handoutMasterIdLst>
  <p:sldIdLst>
    <p:sldId id="256" r:id="rId5"/>
    <p:sldId id="261" r:id="rId6"/>
    <p:sldId id="259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460"/>
    <a:srgbClr val="97A7B8"/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068E72-FA42-4A81-9397-5EAF626D5C60}" v="6" dt="2026-05-04T08:45:54.929"/>
  </p1510:revLst>
</p1510:revInfo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04-May-26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04-May-26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126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620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494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58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2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04-May-26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4837D5C-EE88-BE2B-5940-6A8E20CAE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6331A-AE6C-3009-DDD4-1671FF7E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7D28B-DE67-0B99-CDEB-A037FFC56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9F3E3-6134-5423-F75E-B36E71A65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677F-A1EC-4CDA-E80E-4B369546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E2C06-C49E-A5AA-07A3-D134EFA3D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A39D8-E4F7-CD36-B80A-49D228C0F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F4721-4B2C-0638-8409-054F6738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94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255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408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319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65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157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82" r:id="rId12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C63F1-AD8C-C099-57CF-F462C357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164" y="2437200"/>
            <a:ext cx="9832064" cy="1735878"/>
          </a:xfrm>
          <a:solidFill>
            <a:srgbClr val="595460"/>
          </a:solidFill>
        </p:spPr>
        <p:txBody>
          <a:bodyPr>
            <a:noAutofit/>
          </a:bodyPr>
          <a:lstStyle/>
          <a:p>
            <a:pPr algn="ctr"/>
            <a:r>
              <a:rPr lang="ro-RO" sz="4400" dirty="0">
                <a:solidFill>
                  <a:srgbClr val="EBEDEB"/>
                </a:solidFill>
                <a:latin typeface="Corbel" panose="020B0503020204020204" pitchFamily="34" charset="0"/>
              </a:rPr>
              <a:t>unSigned – formulare anonime</a:t>
            </a:r>
            <a:endParaRPr lang="en-US" sz="4400" dirty="0">
              <a:solidFill>
                <a:srgbClr val="EBEDEB"/>
              </a:solidFill>
              <a:latin typeface="Corbel" panose="020B05030202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4DD2DF-CDEF-9A1A-9BEE-BE06F6A27760}"/>
              </a:ext>
            </a:extLst>
          </p:cNvPr>
          <p:cNvSpPr txBox="1"/>
          <p:nvPr/>
        </p:nvSpPr>
        <p:spPr>
          <a:xfrm>
            <a:off x="5327963" y="3865301"/>
            <a:ext cx="1536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EBEDEB"/>
                </a:solidFill>
                <a:latin typeface="Corbel" panose="020B0503020204020204" pitchFamily="34" charset="0"/>
              </a:rPr>
              <a:t>Lup</a:t>
            </a:r>
            <a:r>
              <a:rPr lang="ro-RO" sz="1400" dirty="0">
                <a:solidFill>
                  <a:srgbClr val="EBEDEB"/>
                </a:solidFill>
                <a:latin typeface="Corbel" panose="020B0503020204020204" pitchFamily="34" charset="0"/>
              </a:rPr>
              <a:t>șe Paul-Ștefan</a:t>
            </a:r>
            <a:endParaRPr lang="en-US" sz="1400" dirty="0">
              <a:solidFill>
                <a:srgbClr val="EBEDEB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277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516CF3-CC92-CD59-122E-B65CB7F65C48}"/>
              </a:ext>
            </a:extLst>
          </p:cNvPr>
          <p:cNvSpPr txBox="1"/>
          <p:nvPr/>
        </p:nvSpPr>
        <p:spPr>
          <a:xfrm>
            <a:off x="1539090" y="3136612"/>
            <a:ext cx="1548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>
                <a:solidFill>
                  <a:srgbClr val="595460"/>
                </a:solidFill>
                <a:latin typeface="Corbel" panose="020B0503020204020204" pitchFamily="34" charset="0"/>
              </a:rPr>
              <a:t>Cuprins</a:t>
            </a:r>
            <a:endParaRPr lang="en-US" sz="32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16DFA2-2A0B-0FF4-0ED4-6D87BCF442E6}"/>
              </a:ext>
            </a:extLst>
          </p:cNvPr>
          <p:cNvSpPr txBox="1"/>
          <p:nvPr/>
        </p:nvSpPr>
        <p:spPr>
          <a:xfrm>
            <a:off x="4952245" y="2305614"/>
            <a:ext cx="38205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1. Introducere</a:t>
            </a:r>
          </a:p>
          <a:p>
            <a:pPr>
              <a:spcAft>
                <a:spcPts val="600"/>
              </a:spcAft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2. Tehnologii utilizate</a:t>
            </a:r>
          </a:p>
          <a:p>
            <a:pPr>
              <a:spcAft>
                <a:spcPts val="600"/>
              </a:spcAft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3. Analiza problemei</a:t>
            </a:r>
          </a:p>
          <a:p>
            <a:pPr>
              <a:spcAft>
                <a:spcPts val="600"/>
              </a:spcAft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4. Soluția implementată</a:t>
            </a:r>
          </a:p>
          <a:p>
            <a:pPr>
              <a:spcAft>
                <a:spcPts val="600"/>
              </a:spcAft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5. Limitări și direcții viitoare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82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616D-F539-CD71-FA01-0A4D2093D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153" y="1361016"/>
            <a:ext cx="10593694" cy="2597841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rgbClr val="595460"/>
                </a:solidFill>
                <a:latin typeface="Corbel" panose="020B0503020204020204" pitchFamily="34" charset="0"/>
              </a:rPr>
              <a:t>Introducere</a:t>
            </a:r>
            <a:endParaRPr lang="en-US" dirty="0">
              <a:latin typeface="Corbel" panose="020B05030202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F803D-E3A5-B85F-FCA5-AA1669BD8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62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9C3DCC-038F-0FA3-020B-9B1EA15C9A38}"/>
              </a:ext>
            </a:extLst>
          </p:cNvPr>
          <p:cNvSpPr/>
          <p:nvPr/>
        </p:nvSpPr>
        <p:spPr>
          <a:xfrm>
            <a:off x="425513" y="1674893"/>
            <a:ext cx="8120959" cy="3232086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C01AE5-2213-9CCE-AA4E-FAAA3C095DD3}"/>
              </a:ext>
            </a:extLst>
          </p:cNvPr>
          <p:cNvSpPr txBox="1"/>
          <p:nvPr/>
        </p:nvSpPr>
        <p:spPr>
          <a:xfrm>
            <a:off x="425513" y="1336338"/>
            <a:ext cx="1738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Introducere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02D4A-366A-4416-3FFE-BABF973E4540}"/>
              </a:ext>
            </a:extLst>
          </p:cNvPr>
          <p:cNvSpPr txBox="1"/>
          <p:nvPr/>
        </p:nvSpPr>
        <p:spPr>
          <a:xfrm>
            <a:off x="697116" y="2109458"/>
            <a:ext cx="745100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Acest proiect implementează o metodă de 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“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anonimizare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” a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chestionarelor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și orice formă derivată a acestora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Metoda descrisă ulterior este folosită ca și bază pentru furnizarea unui sistem de creare și completare a formularelor, sub forma unui site web</a:t>
            </a:r>
          </a:p>
        </p:txBody>
      </p:sp>
    </p:spTree>
    <p:extLst>
      <p:ext uri="{BB962C8B-B14F-4D97-AF65-F5344CB8AC3E}">
        <p14:creationId xmlns:p14="http://schemas.microsoft.com/office/powerpoint/2010/main" val="107217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7BCA8-6192-9ADD-81EC-0B58F4F01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153" y="3115307"/>
            <a:ext cx="10593694" cy="871626"/>
          </a:xfrm>
        </p:spPr>
        <p:txBody>
          <a:bodyPr>
            <a:noAutofit/>
          </a:bodyPr>
          <a:lstStyle/>
          <a:p>
            <a:r>
              <a:rPr lang="ro-RO" dirty="0">
                <a:solidFill>
                  <a:srgbClr val="595460"/>
                </a:solidFill>
                <a:latin typeface="Corbel" panose="020B0503020204020204" pitchFamily="34" charset="0"/>
              </a:rPr>
              <a:t>Tehnologii utilizate</a:t>
            </a:r>
            <a:endParaRPr lang="en-US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0D08B-EE26-BB5A-82C7-32D2D1803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63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2F0DB4-4D29-9F8D-C170-BAC8209EDC75}"/>
              </a:ext>
            </a:extLst>
          </p:cNvPr>
          <p:cNvSpPr/>
          <p:nvPr/>
        </p:nvSpPr>
        <p:spPr>
          <a:xfrm>
            <a:off x="-131275" y="-165226"/>
            <a:ext cx="5118988" cy="7188451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76200">
                <a:solidFill>
                  <a:srgbClr val="59546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1EE44-C19E-DF3F-4229-8740D4BA56D5}"/>
              </a:ext>
            </a:extLst>
          </p:cNvPr>
          <p:cNvSpPr txBox="1"/>
          <p:nvPr/>
        </p:nvSpPr>
        <p:spPr>
          <a:xfrm>
            <a:off x="5042683" y="78204"/>
            <a:ext cx="2534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>
                <a:solidFill>
                  <a:srgbClr val="595460"/>
                </a:solidFill>
                <a:latin typeface="Corbel" panose="020B0503020204020204" pitchFamily="34" charset="0"/>
              </a:rPr>
              <a:t>Tehnologii utilizate</a:t>
            </a:r>
            <a:endParaRPr lang="en-US" sz="1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pic>
        <p:nvPicPr>
          <p:cNvPr id="2050" name="Picture 2" descr="Python (programming language) - Wikipedia">
            <a:extLst>
              <a:ext uri="{FF2B5EF4-FFF2-40B4-BE49-F238E27FC236}">
                <a16:creationId xmlns:a16="http://schemas.microsoft.com/office/drawing/2014/main" id="{D7C15262-31E4-DCCE-B298-92AE4632B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330" y="1418045"/>
            <a:ext cx="1063388" cy="106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ABA044-CF23-04E7-D54C-21CFB2F6F41C}"/>
              </a:ext>
            </a:extLst>
          </p:cNvPr>
          <p:cNvSpPr txBox="1"/>
          <p:nvPr/>
        </p:nvSpPr>
        <p:spPr>
          <a:xfrm>
            <a:off x="219267" y="78204"/>
            <a:ext cx="4109137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Python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FastAPI</a:t>
            </a:r>
            <a:endParaRPr lang="en-US" sz="2400" dirty="0">
              <a:latin typeface="Corbel" panose="020B0503020204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rbel" panose="020B0503020204020204" pitchFamily="34" charset="0"/>
              </a:rPr>
              <a:t>SlowAPI</a:t>
            </a:r>
            <a:endParaRPr lang="en-US" sz="2400" dirty="0">
              <a:latin typeface="Corbel" panose="020B0503020204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rbel" panose="020B0503020204020204" pitchFamily="34" charset="0"/>
              </a:rPr>
              <a:t>Uvicorn</a:t>
            </a:r>
            <a:endParaRPr lang="en-US" sz="2400" dirty="0">
              <a:latin typeface="Corbel" panose="020B0503020204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rbel" panose="020B0503020204020204" pitchFamily="34" charset="0"/>
              </a:rPr>
              <a:t>Yagmail</a:t>
            </a:r>
            <a:endParaRPr lang="ro-RO" sz="2400" dirty="0">
              <a:latin typeface="Corbel" panose="020B0503020204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OAuth2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MongoDB (PyMongo)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JWT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PASETO (PySeto)</a:t>
            </a:r>
            <a:endParaRPr lang="en-US" sz="2400" dirty="0">
              <a:latin typeface="Corbel" panose="020B0503020204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rbel" panose="020B0503020204020204" pitchFamily="34" charset="0"/>
              </a:rPr>
              <a:t>Bcrypt</a:t>
            </a:r>
            <a:r>
              <a:rPr lang="en-US" sz="2400" dirty="0">
                <a:latin typeface="Corbel" panose="020B0503020204020204" pitchFamily="34" charset="0"/>
              </a:rPr>
              <a:t> (HS256)</a:t>
            </a:r>
            <a:endParaRPr lang="ro-RO" sz="2400" dirty="0">
              <a:latin typeface="Corbel" panose="020B0503020204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 TypeScript (JavaScript)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HTML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CSS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Webpack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latin typeface="Corbel" panose="020B0503020204020204" pitchFamily="34" charset="0"/>
              </a:rPr>
              <a:t>React</a:t>
            </a:r>
            <a:endParaRPr lang="en-US" sz="2400" dirty="0">
              <a:latin typeface="Corbel" panose="020B0503020204020204" pitchFamily="34" charset="0"/>
            </a:endParaRPr>
          </a:p>
        </p:txBody>
      </p:sp>
      <p:pic>
        <p:nvPicPr>
          <p:cNvPr id="1026" name="Picture 2" descr="FastAPI">
            <a:extLst>
              <a:ext uri="{FF2B5EF4-FFF2-40B4-BE49-F238E27FC236}">
                <a16:creationId xmlns:a16="http://schemas.microsoft.com/office/drawing/2014/main" id="{89D19545-436C-F9E9-02DF-20831F910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679" y="622430"/>
            <a:ext cx="3354666" cy="120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4" descr="Understanding Uvicorn: The basics - DEV Community">
            <a:extLst>
              <a:ext uri="{FF2B5EF4-FFF2-40B4-BE49-F238E27FC236}">
                <a16:creationId xmlns:a16="http://schemas.microsoft.com/office/drawing/2014/main" id="{E0E0A135-B0CF-1754-8EC7-3AB83EEF97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28863" cy="328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uvicorn-logo">
            <a:extLst>
              <a:ext uri="{FF2B5EF4-FFF2-40B4-BE49-F238E27FC236}">
                <a16:creationId xmlns:a16="http://schemas.microsoft.com/office/drawing/2014/main" id="{823F7222-5C85-B1FF-9EBD-AAC08CF1F3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BF7E861-7729-9E18-01C5-C2A67A7C8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5923" y="3493662"/>
            <a:ext cx="1056388" cy="13431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E0C369-24FD-841E-691A-6F71D4BED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2909" y="1190394"/>
            <a:ext cx="1518691" cy="1518691"/>
          </a:xfrm>
          <a:prstGeom prst="rect">
            <a:avLst/>
          </a:prstGeom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E7BB4CC2-6E09-A3D3-5221-EEBF0F336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435" y="4659288"/>
            <a:ext cx="1140527" cy="1140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ndefined">
            <a:extLst>
              <a:ext uri="{FF2B5EF4-FFF2-40B4-BE49-F238E27FC236}">
                <a16:creationId xmlns:a16="http://schemas.microsoft.com/office/drawing/2014/main" id="{70A02209-F93E-4AFE-8FC8-94267E9E2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435" y="3610743"/>
            <a:ext cx="1140527" cy="1140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undefined">
            <a:extLst>
              <a:ext uri="{FF2B5EF4-FFF2-40B4-BE49-F238E27FC236}">
                <a16:creationId xmlns:a16="http://schemas.microsoft.com/office/drawing/2014/main" id="{E782DBC3-BC6D-5BB9-69FB-72394A0C4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020" y="3530768"/>
            <a:ext cx="1268978" cy="126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>
            <a:extLst>
              <a:ext uri="{FF2B5EF4-FFF2-40B4-BE49-F238E27FC236}">
                <a16:creationId xmlns:a16="http://schemas.microsoft.com/office/drawing/2014/main" id="{367C6785-4FDB-1DA7-DA06-B7E628028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0581" y="3428999"/>
            <a:ext cx="935586" cy="1321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84A393AD-D7D8-5E1B-E3CE-D6630AE48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3982" y="1890141"/>
            <a:ext cx="23812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>
            <a:extLst>
              <a:ext uri="{FF2B5EF4-FFF2-40B4-BE49-F238E27FC236}">
                <a16:creationId xmlns:a16="http://schemas.microsoft.com/office/drawing/2014/main" id="{86E05B51-8B4F-DC23-B20A-816BA76F6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049" y="4924422"/>
            <a:ext cx="1382405" cy="1277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406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49448-419B-2B76-976E-CB9524AB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595460"/>
                </a:solidFill>
                <a:latin typeface="Corbel" panose="020B0503020204020204" pitchFamily="34" charset="0"/>
              </a:rPr>
              <a:t>Descrierea</a:t>
            </a:r>
            <a:r>
              <a:rPr lang="en-US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dirty="0" err="1">
                <a:solidFill>
                  <a:srgbClr val="595460"/>
                </a:solidFill>
                <a:latin typeface="Corbel" panose="020B0503020204020204" pitchFamily="34" charset="0"/>
              </a:rPr>
              <a:t>problemei</a:t>
            </a:r>
            <a:endParaRPr lang="en-US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27443-7A6E-81BA-96E4-B4E768B73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66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7E6399-3FA9-2FF1-9896-150ACDF3B626}"/>
              </a:ext>
            </a:extLst>
          </p:cNvPr>
          <p:cNvSpPr/>
          <p:nvPr/>
        </p:nvSpPr>
        <p:spPr>
          <a:xfrm>
            <a:off x="655504" y="1460784"/>
            <a:ext cx="10109067" cy="2749077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9B9A5-61BB-DB78-1D5B-8A30A7CC9C88}"/>
              </a:ext>
            </a:extLst>
          </p:cNvPr>
          <p:cNvSpPr txBox="1"/>
          <p:nvPr/>
        </p:nvSpPr>
        <p:spPr>
          <a:xfrm>
            <a:off x="655505" y="1122229"/>
            <a:ext cx="2409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595460"/>
                </a:solidFill>
                <a:latin typeface="Corbel" panose="020B0503020204020204" pitchFamily="34" charset="0"/>
              </a:rPr>
              <a:t>Descrierea</a:t>
            </a:r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 problemei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F450B-8196-A0D8-BC5E-9DCB9CDD2F95}"/>
              </a:ext>
            </a:extLst>
          </p:cNvPr>
          <p:cNvSpPr txBox="1"/>
          <p:nvPr/>
        </p:nvSpPr>
        <p:spPr>
          <a:xfrm>
            <a:off x="816731" y="1711836"/>
            <a:ext cx="937747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Anonimitatea const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ă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î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n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incapacitatea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asocierii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unui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r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ă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spuns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atribuit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chestionarului,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cu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individul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care a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depus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r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ă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spunsul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respectiv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Totodat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ă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, se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dore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ș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te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si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asigurarea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incapacității de a depune un răspuns în două instanțe de către același individ, precum și asigurarea non-repudierii oricărui răspuns depus</a:t>
            </a:r>
          </a:p>
        </p:txBody>
      </p:sp>
    </p:spTree>
    <p:extLst>
      <p:ext uri="{BB962C8B-B14F-4D97-AF65-F5344CB8AC3E}">
        <p14:creationId xmlns:p14="http://schemas.microsoft.com/office/powerpoint/2010/main" val="354239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F5DCB3-5520-32B3-7513-846240465DC5}"/>
              </a:ext>
            </a:extLst>
          </p:cNvPr>
          <p:cNvSpPr/>
          <p:nvPr/>
        </p:nvSpPr>
        <p:spPr>
          <a:xfrm>
            <a:off x="905985" y="891511"/>
            <a:ext cx="5190015" cy="4812172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94337-8556-6970-3595-B3F3A4D47DBB}"/>
              </a:ext>
            </a:extLst>
          </p:cNvPr>
          <p:cNvSpPr txBox="1"/>
          <p:nvPr/>
        </p:nvSpPr>
        <p:spPr>
          <a:xfrm>
            <a:off x="1071418" y="2322168"/>
            <a:ext cx="47952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Furnizorul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de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servicii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de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formulare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anonimizate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Persoanele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ce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folosesc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serviciile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oferite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de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furnizor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pentru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a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crea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formular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e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Persoanele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ce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folosesc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serviciile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oferite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de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furnizor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pentru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a 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răspunde la formularele 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820FA0-0F8E-CE9E-4ED1-9C0D368972E0}"/>
              </a:ext>
            </a:extLst>
          </p:cNvPr>
          <p:cNvSpPr txBox="1"/>
          <p:nvPr/>
        </p:nvSpPr>
        <p:spPr>
          <a:xfrm>
            <a:off x="1071418" y="1039919"/>
            <a:ext cx="4795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În acest context al formularelor anonimizate, este vorba despre trei entități distincte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:</a:t>
            </a:r>
            <a:endParaRPr lang="ro-RO" sz="2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5705AF-54C3-479A-0A36-6ABD21DCFE4D}"/>
              </a:ext>
            </a:extLst>
          </p:cNvPr>
          <p:cNvSpPr txBox="1"/>
          <p:nvPr/>
        </p:nvSpPr>
        <p:spPr>
          <a:xfrm>
            <a:off x="905984" y="558202"/>
            <a:ext cx="2409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Analiza problemei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E128C-3760-54F1-4D17-569F87440EE6}"/>
              </a:ext>
            </a:extLst>
          </p:cNvPr>
          <p:cNvSpPr/>
          <p:nvPr/>
        </p:nvSpPr>
        <p:spPr>
          <a:xfrm>
            <a:off x="6092641" y="891511"/>
            <a:ext cx="5272683" cy="3463205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6DD41-A8B9-88EF-4CC0-67304672DE0B}"/>
              </a:ext>
            </a:extLst>
          </p:cNvPr>
          <p:cNvSpPr txBox="1"/>
          <p:nvPr/>
        </p:nvSpPr>
        <p:spPr>
          <a:xfrm>
            <a:off x="6261433" y="1039918"/>
            <a:ext cx="53903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Transpus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în termeni de arhitectură a aplicaților web, aceste entități au următoarele corespondențe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4B4E64-13FB-D7B6-9566-B025C7CDC0A1}"/>
              </a:ext>
            </a:extLst>
          </p:cNvPr>
          <p:cNvSpPr txBox="1"/>
          <p:nvPr/>
        </p:nvSpPr>
        <p:spPr>
          <a:xfrm>
            <a:off x="6261433" y="2290967"/>
            <a:ext cx="527268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lphaLcParenR"/>
            </a:pP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Serverul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web (de backend 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și de frontend)</a:t>
            </a:r>
          </a:p>
          <a:p>
            <a:pPr marL="457200" indent="-457200">
              <a:spcAft>
                <a:spcPts val="600"/>
              </a:spcAft>
              <a:buFont typeface="+mj-lt"/>
              <a:buAutoNum type="alphaLcParenR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Utilizatorii propriu-ziși</a:t>
            </a:r>
          </a:p>
          <a:p>
            <a:pPr marL="457200" indent="-457200">
              <a:buFont typeface="+mj-lt"/>
              <a:buAutoNum type="alphaLcParenR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Sub-utilizatorii 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395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A8C60F-1463-3796-F981-7E367BF5FB6B}"/>
              </a:ext>
            </a:extLst>
          </p:cNvPr>
          <p:cNvSpPr/>
          <p:nvPr/>
        </p:nvSpPr>
        <p:spPr>
          <a:xfrm>
            <a:off x="601184" y="836093"/>
            <a:ext cx="9556804" cy="4988829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FAF17D-1CC3-CDAA-6EF4-7EF8142DDBE9}"/>
              </a:ext>
            </a:extLst>
          </p:cNvPr>
          <p:cNvSpPr txBox="1"/>
          <p:nvPr/>
        </p:nvSpPr>
        <p:spPr>
          <a:xfrm>
            <a:off x="601184" y="497540"/>
            <a:ext cx="2409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Analiza problemei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4E1EC4-FF9B-C8C8-E0C6-8B067144D203}"/>
              </a:ext>
            </a:extLst>
          </p:cNvPr>
          <p:cNvSpPr txBox="1"/>
          <p:nvPr/>
        </p:nvSpPr>
        <p:spPr>
          <a:xfrm>
            <a:off x="778597" y="1033077"/>
            <a:ext cx="894482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Astfel, problema anonimității formularelor se poate naște din mai multe cauze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:</a:t>
            </a:r>
          </a:p>
          <a:p>
            <a:endParaRPr lang="en-US" dirty="0">
              <a:solidFill>
                <a:srgbClr val="595460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Utilizatorii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doresc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s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ă afle persoana din spatele unui anume răspuns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Un sub-utilizator dorește să influențeze rezultatele în mod a nu reprezenta datele statistice reale are răspunsurilor, precum răspunderea în mod repetat sau retragerea unui răspuns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Un administrator (sau, în caz extrem, un hacker) având acces la starea internă a aplicației (baza de date) dorește să găsească o corelație între un răspuns și persoana ce a efectuat acel răspuns sau să altereze din diverse motive</a:t>
            </a:r>
          </a:p>
        </p:txBody>
      </p:sp>
    </p:spTree>
    <p:extLst>
      <p:ext uri="{BB962C8B-B14F-4D97-AF65-F5344CB8AC3E}">
        <p14:creationId xmlns:p14="http://schemas.microsoft.com/office/powerpoint/2010/main" val="3260572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D0032-A278-0589-9488-E88A2EC71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solidFill>
                  <a:srgbClr val="595460"/>
                </a:solidFill>
                <a:latin typeface="Corbel" panose="020B0503020204020204" pitchFamily="34" charset="0"/>
              </a:rPr>
              <a:t>Soluția implementată</a:t>
            </a:r>
            <a:endParaRPr lang="en-US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D5D8A-460F-6EFC-30D7-EE6908E79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3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99B17B-8ECF-40B8-41FC-BCA5BFCFE63F}"/>
              </a:ext>
            </a:extLst>
          </p:cNvPr>
          <p:cNvSpPr/>
          <p:nvPr/>
        </p:nvSpPr>
        <p:spPr>
          <a:xfrm>
            <a:off x="528758" y="574218"/>
            <a:ext cx="11026758" cy="1499026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5954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E04899-621A-7246-9C4A-266BC753C4B4}"/>
              </a:ext>
            </a:extLst>
          </p:cNvPr>
          <p:cNvSpPr txBox="1"/>
          <p:nvPr/>
        </p:nvSpPr>
        <p:spPr>
          <a:xfrm>
            <a:off x="528757" y="235664"/>
            <a:ext cx="2601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Soluția implementată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E33B7-CB8D-F2B2-3F01-37575DC2CB2A}"/>
              </a:ext>
            </a:extLst>
          </p:cNvPr>
          <p:cNvSpPr txBox="1"/>
          <p:nvPr/>
        </p:nvSpPr>
        <p:spPr>
          <a:xfrm>
            <a:off x="987147" y="723566"/>
            <a:ext cx="10109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Soluția implementată se bazează pe un sistem de chei de acces,  asemănătoare cu token-urile folosite pentru autentificare în cadrul framework-ului de autentificare și autorizare OAuth2, de regulă JWT-uri (Json Web Token).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7F2B2F-03A7-ADD4-E882-1FC036E5C8E7}"/>
              </a:ext>
            </a:extLst>
          </p:cNvPr>
          <p:cNvSpPr/>
          <p:nvPr/>
        </p:nvSpPr>
        <p:spPr>
          <a:xfrm>
            <a:off x="528757" y="2073244"/>
            <a:ext cx="5265461" cy="3612332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5954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84F34E-F9C1-079B-15DC-347F56A0D21A}"/>
              </a:ext>
            </a:extLst>
          </p:cNvPr>
          <p:cNvSpPr txBox="1"/>
          <p:nvPr/>
        </p:nvSpPr>
        <p:spPr>
          <a:xfrm>
            <a:off x="845172" y="2384755"/>
            <a:ext cx="46326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At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ât acceste token-uri, cunoscute sub numele de PASETO (Platform Agnostic Security Token), cât și JWT-urile, rețin date sub format JSON (JavaScript Object Notation) care sunt 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“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semnate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” cu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ajutorul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unui</a:t>
            </a:r>
            <a:r>
              <a:rPr lang="en-US" sz="2400" dirty="0">
                <a:solidFill>
                  <a:srgbClr val="595460"/>
                </a:solidFill>
                <a:latin typeface="Corbel" panose="020B0503020204020204" pitchFamily="34" charset="0"/>
              </a:rPr>
              <a:t> </a:t>
            </a:r>
            <a:r>
              <a:rPr lang="en-US" sz="2400" dirty="0" err="1">
                <a:solidFill>
                  <a:srgbClr val="595460"/>
                </a:solidFill>
                <a:latin typeface="Corbel" panose="020B0503020204020204" pitchFamily="34" charset="0"/>
              </a:rPr>
              <a:t>algoritm</a:t>
            </a: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8EE8BB-99CF-5820-E7D4-9329B34B8FB4}"/>
              </a:ext>
            </a:extLst>
          </p:cNvPr>
          <p:cNvSpPr/>
          <p:nvPr/>
        </p:nvSpPr>
        <p:spPr>
          <a:xfrm>
            <a:off x="5794218" y="2073243"/>
            <a:ext cx="5761297" cy="3612333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5954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916E4C-C950-6501-B866-3849E9CBE430}"/>
              </a:ext>
            </a:extLst>
          </p:cNvPr>
          <p:cNvSpPr txBox="1"/>
          <p:nvPr/>
        </p:nvSpPr>
        <p:spPr>
          <a:xfrm>
            <a:off x="6241540" y="2355916"/>
            <a:ext cx="48666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Datele dintr-un JWT sunt pur și simplu codificate în baza 64, în timp ce datele dintr-un PASETO local sunt criptate. Totodată, algoritmul de semnare a unui PASETO depinde de versiunea acestuia (v1, v2, v3 sau v4), deci nu este ales după preferința programatorului</a:t>
            </a:r>
          </a:p>
        </p:txBody>
      </p:sp>
    </p:spTree>
    <p:extLst>
      <p:ext uri="{BB962C8B-B14F-4D97-AF65-F5344CB8AC3E}">
        <p14:creationId xmlns:p14="http://schemas.microsoft.com/office/powerpoint/2010/main" val="3935602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7ECD64-12AF-A18B-8B03-FD1200AE0FE8}"/>
              </a:ext>
            </a:extLst>
          </p:cNvPr>
          <p:cNvSpPr txBox="1"/>
          <p:nvPr/>
        </p:nvSpPr>
        <p:spPr>
          <a:xfrm>
            <a:off x="2123584" y="678492"/>
            <a:ext cx="2409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Algoritmul de rezolvare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4A383B-BEF6-45B0-6B6E-C179B47BFF0F}"/>
              </a:ext>
            </a:extLst>
          </p:cNvPr>
          <p:cNvSpPr/>
          <p:nvPr/>
        </p:nvSpPr>
        <p:spPr>
          <a:xfrm>
            <a:off x="1969219" y="1007868"/>
            <a:ext cx="8253561" cy="4668655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C80895-90AE-CCE8-815D-851D88607525}"/>
              </a:ext>
            </a:extLst>
          </p:cNvPr>
          <p:cNvSpPr txBox="1"/>
          <p:nvPr/>
        </p:nvSpPr>
        <p:spPr>
          <a:xfrm>
            <a:off x="2308632" y="1346422"/>
            <a:ext cx="7574733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Distribuirea cheilor se realizează prin intermediul poștei electronice.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Utilizatorul introduce email-urile persoanelor cărora dorește să le ofere acces la formular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Cheile de acces sunt generate de serverul backend fiecare dată când se procesează o astfel de cerere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Pentru a adauga un nivel de protejare impotriva incercarilor de negare a anonimitatii, cheile sunt distribuite aleator</a:t>
            </a:r>
          </a:p>
        </p:txBody>
      </p:sp>
    </p:spTree>
    <p:extLst>
      <p:ext uri="{BB962C8B-B14F-4D97-AF65-F5344CB8AC3E}">
        <p14:creationId xmlns:p14="http://schemas.microsoft.com/office/powerpoint/2010/main" val="81754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9C0893-ADDC-B5D4-9D90-89BDE4F36569}"/>
              </a:ext>
            </a:extLst>
          </p:cNvPr>
          <p:cNvSpPr/>
          <p:nvPr/>
        </p:nvSpPr>
        <p:spPr>
          <a:xfrm>
            <a:off x="2466195" y="870269"/>
            <a:ext cx="6804553" cy="4624608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00952-F7F0-76FD-8EB8-6D63A74962E2}"/>
              </a:ext>
            </a:extLst>
          </p:cNvPr>
          <p:cNvSpPr txBox="1"/>
          <p:nvPr/>
        </p:nvSpPr>
        <p:spPr>
          <a:xfrm>
            <a:off x="2466196" y="531715"/>
            <a:ext cx="2259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Algoritmul de rezolvare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CF8AE7-D566-7108-8792-62EED5136E22}"/>
              </a:ext>
            </a:extLst>
          </p:cNvPr>
          <p:cNvSpPr txBox="1"/>
          <p:nvPr/>
        </p:nvSpPr>
        <p:spPr>
          <a:xfrm>
            <a:off x="2815627" y="1186004"/>
            <a:ext cx="623060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Cheile si email-urile nu sunt salvate in baza de date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Cheile sunt folosite asemenea token-urilor de autentificare JWT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Acestea sunt retinute de catre persoanele carora le sunt atribuite, pana la folosire,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Totusi, după utilizarea unui token este nevoie de memorarea unui id in baza de date pentru identificarea utilizarii token-ului respectiv</a:t>
            </a:r>
          </a:p>
        </p:txBody>
      </p:sp>
    </p:spTree>
    <p:extLst>
      <p:ext uri="{BB962C8B-B14F-4D97-AF65-F5344CB8AC3E}">
        <p14:creationId xmlns:p14="http://schemas.microsoft.com/office/powerpoint/2010/main" val="1970232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8366F-2B9D-BCFD-B562-C0AC4BA7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Corbel" panose="020B0503020204020204" pitchFamily="34" charset="0"/>
              </a:rPr>
              <a:t>Direcții viitoare</a:t>
            </a:r>
            <a:endParaRPr lang="en-US" dirty="0">
              <a:latin typeface="Corbel" panose="020B05030202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E3239-0EE9-D255-8695-2438D45EA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48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AD07ED-94B2-B4FB-C8D2-9D6123731E99}"/>
              </a:ext>
            </a:extLst>
          </p:cNvPr>
          <p:cNvSpPr/>
          <p:nvPr/>
        </p:nvSpPr>
        <p:spPr>
          <a:xfrm>
            <a:off x="1209814" y="653241"/>
            <a:ext cx="8102187" cy="5475955"/>
          </a:xfrm>
          <a:prstGeom prst="rect">
            <a:avLst/>
          </a:prstGeom>
          <a:solidFill>
            <a:schemeClr val="bg1"/>
          </a:solidFill>
          <a:ln w="57150">
            <a:solidFill>
              <a:srgbClr val="595460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352C5-AAF6-BC2F-5084-6E20254B28A0}"/>
              </a:ext>
            </a:extLst>
          </p:cNvPr>
          <p:cNvSpPr txBox="1"/>
          <p:nvPr/>
        </p:nvSpPr>
        <p:spPr>
          <a:xfrm>
            <a:off x="1428366" y="864745"/>
            <a:ext cx="7576483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Se poate considera opțiunea de interzicere a distribuirii de chei multiple unui singur email, ceea ce ar necesita memorarea sub o anumită form a acestor email-uri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Poate exista dorința de generare și distribuire personală a cheilor, de regulă în cadrul companiilor ce au un astfel de sistem deja implementat.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Pentru creșterea performanței și a convenienței, este posibilă dezvoltarea unei variante de desktop sau mobil al aplicației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595460"/>
                </a:solidFill>
                <a:latin typeface="Corbel" panose="020B0503020204020204" pitchFamily="34" charset="0"/>
              </a:rPr>
              <a:t>Pentru creșterea protecției anonimității se poate folosi un server de backend menit doar pentru generare și distribuire de chei</a:t>
            </a:r>
            <a:endParaRPr lang="en-US" sz="24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55DE4-0998-9918-8A47-FA0F0AF013A4}"/>
              </a:ext>
            </a:extLst>
          </p:cNvPr>
          <p:cNvSpPr txBox="1"/>
          <p:nvPr/>
        </p:nvSpPr>
        <p:spPr>
          <a:xfrm>
            <a:off x="1209814" y="314687"/>
            <a:ext cx="3304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solidFill>
                  <a:srgbClr val="595460"/>
                </a:solidFill>
                <a:latin typeface="Corbel" panose="020B0503020204020204" pitchFamily="34" charset="0"/>
              </a:rPr>
              <a:t>Direcții viitoare</a:t>
            </a:r>
            <a:endParaRPr lang="en-US" sz="1600" dirty="0">
              <a:solidFill>
                <a:srgbClr val="595460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363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A1F83-1AC6-7578-FA4D-F4E3504D5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2626" y="2780343"/>
            <a:ext cx="3086747" cy="1297313"/>
          </a:xfrm>
        </p:spPr>
        <p:txBody>
          <a:bodyPr>
            <a:normAutofit/>
          </a:bodyPr>
          <a:lstStyle/>
          <a:p>
            <a:pPr algn="ctr"/>
            <a:r>
              <a:rPr lang="ro-RO" sz="4400" dirty="0">
                <a:solidFill>
                  <a:schemeClr val="bg1">
                    <a:lumMod val="95000"/>
                  </a:schemeClr>
                </a:solidFill>
                <a:latin typeface="Corbel" panose="020B0503020204020204" pitchFamily="34" charset="0"/>
              </a:rPr>
              <a:t>Mulțumesc</a:t>
            </a:r>
            <a:endParaRPr lang="en-US" sz="4400" dirty="0">
              <a:solidFill>
                <a:schemeClr val="bg1">
                  <a:lumMod val="9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813806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0781EDCB846045A61B8C1757B90F59" ma:contentTypeVersion="5" ma:contentTypeDescription="Create a new document." ma:contentTypeScope="" ma:versionID="e1a2ca09971a29c33316de4efcac1358">
  <xsd:schema xmlns:xsd="http://www.w3.org/2001/XMLSchema" xmlns:xs="http://www.w3.org/2001/XMLSchema" xmlns:p="http://schemas.microsoft.com/office/2006/metadata/properties" xmlns:ns3="fe540e69-2d1c-449d-8fa7-5313f04f1d97" targetNamespace="http://schemas.microsoft.com/office/2006/metadata/properties" ma:root="true" ma:fieldsID="46ef629c1d0b38e37f719ffc516fb2e5" ns3:_="">
    <xsd:import namespace="fe540e69-2d1c-449d-8fa7-5313f04f1d9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540e69-2d1c-449d-8fa7-5313f04f1d9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C9E5516-441A-4F7B-A287-B4DC6B851D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540e69-2d1c-449d-8fa7-5313f04f1d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FF477C-132F-44F8-8C56-EBFF95FAF97B}">
  <ds:schemaRefs>
    <ds:schemaRef ds:uri="http://purl.org/dc/terms/"/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  <ds:schemaRef ds:uri="fe540e69-2d1c-449d-8fa7-5313f04f1d97"/>
    <ds:schemaRef ds:uri="http://schemas.microsoft.com/office/2006/documentManagement/typ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{11B658E2-20CE-471B-B921-CF8B875D4C0C}TF2b9189fa-8f70-44c5-a025-8c7b018ae2a95a18b6f7_win32-f1ac09ee8c52</Template>
  <TotalTime>463</TotalTime>
  <Words>671</Words>
  <Application>Microsoft Office PowerPoint</Application>
  <PresentationFormat>Widescreen</PresentationFormat>
  <Paragraphs>71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Meiryo</vt:lpstr>
      <vt:lpstr>Arial</vt:lpstr>
      <vt:lpstr>Calibri</vt:lpstr>
      <vt:lpstr>Corbel</vt:lpstr>
      <vt:lpstr>ShojiVTI</vt:lpstr>
      <vt:lpstr>unSigned – formulare anonime</vt:lpstr>
      <vt:lpstr>PowerPoint Presentation</vt:lpstr>
      <vt:lpstr>Introducere</vt:lpstr>
      <vt:lpstr>PowerPoint Presentation</vt:lpstr>
      <vt:lpstr>Tehnologii utilizate</vt:lpstr>
      <vt:lpstr>PowerPoint Presentation</vt:lpstr>
      <vt:lpstr>Descrierea problemei</vt:lpstr>
      <vt:lpstr>PowerPoint Presentation</vt:lpstr>
      <vt:lpstr>PowerPoint Presentation</vt:lpstr>
      <vt:lpstr>PowerPoint Presentation</vt:lpstr>
      <vt:lpstr>Soluția implementată</vt:lpstr>
      <vt:lpstr>PowerPoint Presentation</vt:lpstr>
      <vt:lpstr>PowerPoint Presentation</vt:lpstr>
      <vt:lpstr>PowerPoint Presentation</vt:lpstr>
      <vt:lpstr>Direcții viitoare</vt:lpstr>
      <vt:lpstr>PowerPoint Presentation</vt:lpstr>
      <vt:lpstr>Mulțumesc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Stefan Lupse</dc:creator>
  <cp:lastModifiedBy>Paul Stefan Lupse</cp:lastModifiedBy>
  <cp:revision>18</cp:revision>
  <dcterms:created xsi:type="dcterms:W3CDTF">2025-11-08T13:38:44Z</dcterms:created>
  <dcterms:modified xsi:type="dcterms:W3CDTF">2026-05-04T09:36:55Z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0x010100310781EDCB846045A61B8C1757B90F59</vt:lpwstr>
  </property>
  <property fmtid="{D5CDD505-2E9C-101B-9397-08002B2CF9AE}" pid="3" name="MediaServiceImageTags">
    <vt:lpwstr/>
  </property>
  <property fmtid="{D5CDD505-2E9C-101B-9397-08002B2CF9AE}" pid="4" name="MSIP_Label_5b58b62f-6f94-46bd-8089-18e64b0a9abb_Enabled">
    <vt:lpwstr>true</vt:lpwstr>
  </property>
  <property fmtid="{D5CDD505-2E9C-101B-9397-08002B2CF9AE}" pid="5" name="MSIP_Label_5b58b62f-6f94-46bd-8089-18e64b0a9abb_SetDate">
    <vt:lpwstr>2025-11-08T13:58:05Z</vt:lpwstr>
  </property>
  <property fmtid="{D5CDD505-2E9C-101B-9397-08002B2CF9AE}" pid="6" name="MSIP_Label_5b58b62f-6f94-46bd-8089-18e64b0a9abb_Method">
    <vt:lpwstr>Standard</vt:lpwstr>
  </property>
  <property fmtid="{D5CDD505-2E9C-101B-9397-08002B2CF9AE}" pid="7" name="MSIP_Label_5b58b62f-6f94-46bd-8089-18e64b0a9abb_Name">
    <vt:lpwstr>defa4170-0d19-0005-0004-bc88714345d2</vt:lpwstr>
  </property>
  <property fmtid="{D5CDD505-2E9C-101B-9397-08002B2CF9AE}" pid="8" name="MSIP_Label_5b58b62f-6f94-46bd-8089-18e64b0a9abb_SiteId">
    <vt:lpwstr>a6eb79fa-c4a9-4cce-818d-b85274d15305</vt:lpwstr>
  </property>
  <property fmtid="{D5CDD505-2E9C-101B-9397-08002B2CF9AE}" pid="9" name="MSIP_Label_5b58b62f-6f94-46bd-8089-18e64b0a9abb_ActionId">
    <vt:lpwstr>c823b0d0-c9bd-4599-b8b2-275895d3a963</vt:lpwstr>
  </property>
  <property fmtid="{D5CDD505-2E9C-101B-9397-08002B2CF9AE}" pid="10" name="MSIP_Label_5b58b62f-6f94-46bd-8089-18e64b0a9abb_ContentBits">
    <vt:lpwstr>0</vt:lpwstr>
  </property>
  <property fmtid="{D5CDD505-2E9C-101B-9397-08002B2CF9AE}" pid="11" name="MSIP_Label_5b58b62f-6f94-46bd-8089-18e64b0a9abb_Tag">
    <vt:lpwstr>10, 3, 0, 1</vt:lpwstr>
  </property>
</Properties>
</file>